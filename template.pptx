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Times New Roman Bold" charset="1" panose="02020803070505020304"/>
      <p:regular r:id="rId13"/>
    </p:embeddedFont>
    <p:embeddedFont>
      <p:font typeface="Garamond Bold" charset="1" panose="02020804030307010803"/>
      <p:regular r:id="rId14"/>
    </p:embeddedFont>
    <p:embeddedFont>
      <p:font typeface="Arial Bold" charset="1" panose="020B0704020202020204"/>
      <p:regular r:id="rId15"/>
    </p:embeddedFont>
    <p:embeddedFont>
      <p:font typeface="Arial" charset="1" panose="020B0604020202020204"/>
      <p:regular r:id="rId19"/>
    </p:embeddedFont>
    <p:embeddedFont>
      <p:font typeface="Arimo Bold" charset="1" panose="020B0704020202020204"/>
      <p:regular r:id="rId20"/>
    </p:embeddedFont>
    <p:embeddedFont>
      <p:font typeface="Arimo" charset="1" panose="020B060402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3.jpeg" Type="http://schemas.openxmlformats.org/officeDocument/2006/relationships/image"/><Relationship Id="rId5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3.jpeg" Type="http://schemas.openxmlformats.org/officeDocument/2006/relationships/image"/><Relationship Id="rId5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3.jpeg" Type="http://schemas.openxmlformats.org/officeDocument/2006/relationships/image"/><Relationship Id="rId5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3.jpeg" Type="http://schemas.openxmlformats.org/officeDocument/2006/relationships/image"/><Relationship Id="rId5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3.jpeg" Type="http://schemas.openxmlformats.org/officeDocument/2006/relationships/image"/><Relationship Id="rId5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3.jpeg" Type="http://schemas.openxmlformats.org/officeDocument/2006/relationships/image"/><Relationship Id="rId5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34640" y="1889760"/>
            <a:ext cx="12618720" cy="147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660930" y="429123"/>
            <a:ext cx="6966140" cy="1617375"/>
            <a:chOff x="0" y="0"/>
            <a:chExt cx="11445487" cy="26573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445487" cy="2657374"/>
            </a:xfrm>
            <a:custGeom>
              <a:avLst/>
              <a:gdLst/>
              <a:ahLst/>
              <a:cxnLst/>
              <a:rect r="r" b="b" t="t" l="l"/>
              <a:pathLst>
                <a:path h="2657374" w="11445487">
                  <a:moveTo>
                    <a:pt x="0" y="0"/>
                  </a:moveTo>
                  <a:lnTo>
                    <a:pt x="11445487" y="0"/>
                  </a:lnTo>
                  <a:lnTo>
                    <a:pt x="11445487" y="2657374"/>
                  </a:lnTo>
                  <a:lnTo>
                    <a:pt x="0" y="26573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835" r="-81087" b="-130114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11445487" cy="26764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Yantravedh 2026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663802" y="456967"/>
            <a:ext cx="1595498" cy="1561686"/>
          </a:xfrm>
          <a:custGeom>
            <a:avLst/>
            <a:gdLst/>
            <a:ahLst/>
            <a:cxnLst/>
            <a:rect r="r" b="b" t="t" l="l"/>
            <a:pathLst>
              <a:path h="1561686" w="1595498">
                <a:moveTo>
                  <a:pt x="0" y="0"/>
                </a:moveTo>
                <a:lnTo>
                  <a:pt x="1595498" y="0"/>
                </a:lnTo>
                <a:lnTo>
                  <a:pt x="1595498" y="1561686"/>
                </a:lnTo>
                <a:lnTo>
                  <a:pt x="0" y="15616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203" t="-60115" r="-11053" b="-60225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512655"/>
            <a:ext cx="1491501" cy="1505998"/>
            <a:chOff x="0" y="0"/>
            <a:chExt cx="1988668" cy="200799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88693" cy="2007997"/>
            </a:xfrm>
            <a:custGeom>
              <a:avLst/>
              <a:gdLst/>
              <a:ahLst/>
              <a:cxnLst/>
              <a:rect r="r" b="b" t="t" l="l"/>
              <a:pathLst>
                <a:path h="2007997" w="1988693">
                  <a:moveTo>
                    <a:pt x="0" y="0"/>
                  </a:moveTo>
                  <a:lnTo>
                    <a:pt x="1988693" y="0"/>
                  </a:lnTo>
                  <a:lnTo>
                    <a:pt x="1988693" y="2007997"/>
                  </a:lnTo>
                  <a:lnTo>
                    <a:pt x="0" y="2007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85" t="0" r="-484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0538775" y="5143500"/>
            <a:ext cx="2872740" cy="2872740"/>
          </a:xfrm>
          <a:custGeom>
            <a:avLst/>
            <a:gdLst/>
            <a:ahLst/>
            <a:cxnLst/>
            <a:rect r="r" b="b" t="t" l="l"/>
            <a:pathLst>
              <a:path h="2872740" w="2872740">
                <a:moveTo>
                  <a:pt x="0" y="0"/>
                </a:moveTo>
                <a:lnTo>
                  <a:pt x="2872740" y="0"/>
                </a:lnTo>
                <a:lnTo>
                  <a:pt x="2872740" y="2872740"/>
                </a:lnTo>
                <a:lnTo>
                  <a:pt x="0" y="28727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3337560"/>
            <a:ext cx="8703945" cy="5774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College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Department 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144000" y="3686810"/>
            <a:ext cx="4881413" cy="5424805"/>
          </a:xfrm>
          <a:custGeom>
            <a:avLst/>
            <a:gdLst/>
            <a:ahLst/>
            <a:cxnLst/>
            <a:rect r="r" b="b" t="t" l="l"/>
            <a:pathLst>
              <a:path h="5424805" w="4881413">
                <a:moveTo>
                  <a:pt x="0" y="0"/>
                </a:moveTo>
                <a:lnTo>
                  <a:pt x="4881413" y="0"/>
                </a:lnTo>
                <a:lnTo>
                  <a:pt x="4881413" y="5424805"/>
                </a:lnTo>
                <a:lnTo>
                  <a:pt x="0" y="54248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4501" y="0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</a:p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IDEA TITLE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2390" y="3124048"/>
            <a:ext cx="18105120" cy="3667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b="true" sz="4800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Proposed Solution (Describe your Idea/Solution/Prototype)</a:t>
            </a:r>
          </a:p>
          <a:p>
            <a:pPr algn="l" marL="760095" indent="-380048" lvl="1">
              <a:lnSpc>
                <a:spcPts val="5040"/>
              </a:lnSpc>
            </a:pPr>
          </a:p>
          <a:p>
            <a:pPr algn="l" marL="760095" indent="-380048" lvl="1">
              <a:lnSpc>
                <a:spcPts val="5040"/>
              </a:lnSpc>
            </a:pP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Detailed explanation of the proposed solution</a:t>
            </a: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How it addresses the problem</a:t>
            </a: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Innovation and uniqueness of the solution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512655"/>
            <a:ext cx="1491501" cy="1505998"/>
            <a:chOff x="0" y="0"/>
            <a:chExt cx="1988668" cy="20079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88693" cy="2007997"/>
            </a:xfrm>
            <a:custGeom>
              <a:avLst/>
              <a:gdLst/>
              <a:ahLst/>
              <a:cxnLst/>
              <a:rect r="r" b="b" t="t" l="l"/>
              <a:pathLst>
                <a:path h="2007997" w="1988693">
                  <a:moveTo>
                    <a:pt x="0" y="0"/>
                  </a:moveTo>
                  <a:lnTo>
                    <a:pt x="1988693" y="0"/>
                  </a:lnTo>
                  <a:lnTo>
                    <a:pt x="1988693" y="2007997"/>
                  </a:lnTo>
                  <a:lnTo>
                    <a:pt x="0" y="2007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85" t="0" r="-484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5663802" y="456967"/>
            <a:ext cx="1595498" cy="1561686"/>
          </a:xfrm>
          <a:custGeom>
            <a:avLst/>
            <a:gdLst/>
            <a:ahLst/>
            <a:cxnLst/>
            <a:rect r="r" b="b" t="t" l="l"/>
            <a:pathLst>
              <a:path h="1561686" w="1595498">
                <a:moveTo>
                  <a:pt x="0" y="0"/>
                </a:moveTo>
                <a:lnTo>
                  <a:pt x="1595498" y="0"/>
                </a:lnTo>
                <a:lnTo>
                  <a:pt x="1595498" y="1561686"/>
                </a:lnTo>
                <a:lnTo>
                  <a:pt x="0" y="15616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203" t="-60115" r="-11053" b="-60225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05840" y="3827145"/>
            <a:ext cx="13895070" cy="2651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Technologies to be used (e.g. programming languages, frameworks, hardware)</a:t>
            </a: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Methodology and process for implementation (Flow Charts/Images/ working prototype)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512655"/>
            <a:ext cx="1491501" cy="1505998"/>
            <a:chOff x="0" y="0"/>
            <a:chExt cx="1988668" cy="20079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88693" cy="2007997"/>
            </a:xfrm>
            <a:custGeom>
              <a:avLst/>
              <a:gdLst/>
              <a:ahLst/>
              <a:cxnLst/>
              <a:rect r="r" b="b" t="t" l="l"/>
              <a:pathLst>
                <a:path h="2007997" w="1988693">
                  <a:moveTo>
                    <a:pt x="0" y="0"/>
                  </a:moveTo>
                  <a:lnTo>
                    <a:pt x="1988693" y="0"/>
                  </a:lnTo>
                  <a:lnTo>
                    <a:pt x="1988693" y="2007997"/>
                  </a:lnTo>
                  <a:lnTo>
                    <a:pt x="0" y="2007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85" t="0" r="-484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5663802" y="456967"/>
            <a:ext cx="1595498" cy="1561686"/>
          </a:xfrm>
          <a:custGeom>
            <a:avLst/>
            <a:gdLst/>
            <a:ahLst/>
            <a:cxnLst/>
            <a:rect r="r" b="b" t="t" l="l"/>
            <a:pathLst>
              <a:path h="1561686" w="1595498">
                <a:moveTo>
                  <a:pt x="0" y="0"/>
                </a:moveTo>
                <a:lnTo>
                  <a:pt x="1595498" y="0"/>
                </a:lnTo>
                <a:lnTo>
                  <a:pt x="1595498" y="1561686"/>
                </a:lnTo>
                <a:lnTo>
                  <a:pt x="0" y="15616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203" t="-60115" r="-11053" b="-60225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05840" y="3827145"/>
            <a:ext cx="13895070" cy="2005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 of the feasibility of the idea</a:t>
            </a: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challenges and risks</a:t>
            </a: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Strategies for overcoming these challenges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512655"/>
            <a:ext cx="1491501" cy="1505998"/>
            <a:chOff x="0" y="0"/>
            <a:chExt cx="1988668" cy="20079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88693" cy="2007997"/>
            </a:xfrm>
            <a:custGeom>
              <a:avLst/>
              <a:gdLst/>
              <a:ahLst/>
              <a:cxnLst/>
              <a:rect r="r" b="b" t="t" l="l"/>
              <a:pathLst>
                <a:path h="2007997" w="1988693">
                  <a:moveTo>
                    <a:pt x="0" y="0"/>
                  </a:moveTo>
                  <a:lnTo>
                    <a:pt x="1988693" y="0"/>
                  </a:lnTo>
                  <a:lnTo>
                    <a:pt x="1988693" y="2007997"/>
                  </a:lnTo>
                  <a:lnTo>
                    <a:pt x="0" y="2007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85" t="0" r="-484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5663802" y="456967"/>
            <a:ext cx="1595498" cy="1561686"/>
          </a:xfrm>
          <a:custGeom>
            <a:avLst/>
            <a:gdLst/>
            <a:ahLst/>
            <a:cxnLst/>
            <a:rect r="r" b="b" t="t" l="l"/>
            <a:pathLst>
              <a:path h="1561686" w="1595498">
                <a:moveTo>
                  <a:pt x="0" y="0"/>
                </a:moveTo>
                <a:lnTo>
                  <a:pt x="1595498" y="0"/>
                </a:lnTo>
                <a:lnTo>
                  <a:pt x="1595498" y="1561686"/>
                </a:lnTo>
                <a:lnTo>
                  <a:pt x="0" y="15616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203" t="-60115" r="-11053" b="-60225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05840" y="3827145"/>
            <a:ext cx="13895070" cy="2005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impact on the target audience</a:t>
            </a: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Benefits of the solution (social, economic, environmental, etc.)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512655"/>
            <a:ext cx="1491501" cy="1505998"/>
            <a:chOff x="0" y="0"/>
            <a:chExt cx="1988668" cy="200799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88693" cy="2007997"/>
            </a:xfrm>
            <a:custGeom>
              <a:avLst/>
              <a:gdLst/>
              <a:ahLst/>
              <a:cxnLst/>
              <a:rect r="r" b="b" t="t" l="l"/>
              <a:pathLst>
                <a:path h="2007997" w="1988693">
                  <a:moveTo>
                    <a:pt x="0" y="0"/>
                  </a:moveTo>
                  <a:lnTo>
                    <a:pt x="1988693" y="0"/>
                  </a:lnTo>
                  <a:lnTo>
                    <a:pt x="1988693" y="2007997"/>
                  </a:lnTo>
                  <a:lnTo>
                    <a:pt x="0" y="2007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85" t="0" r="-484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5663802" y="456967"/>
            <a:ext cx="1595498" cy="1561686"/>
          </a:xfrm>
          <a:custGeom>
            <a:avLst/>
            <a:gdLst/>
            <a:ahLst/>
            <a:cxnLst/>
            <a:rect r="r" b="b" t="t" l="l"/>
            <a:pathLst>
              <a:path h="1561686" w="1595498">
                <a:moveTo>
                  <a:pt x="0" y="0"/>
                </a:moveTo>
                <a:lnTo>
                  <a:pt x="1595498" y="0"/>
                </a:lnTo>
                <a:lnTo>
                  <a:pt x="1595498" y="1561686"/>
                </a:lnTo>
                <a:lnTo>
                  <a:pt x="0" y="15616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203" t="-60115" r="-11053" b="-60225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05840" y="4219565"/>
            <a:ext cx="13895070" cy="712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Details / Links of the reference and research work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512655"/>
            <a:ext cx="1491501" cy="1505998"/>
            <a:chOff x="0" y="0"/>
            <a:chExt cx="1988668" cy="20079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88693" cy="2007997"/>
            </a:xfrm>
            <a:custGeom>
              <a:avLst/>
              <a:gdLst/>
              <a:ahLst/>
              <a:cxnLst/>
              <a:rect r="r" b="b" t="t" l="l"/>
              <a:pathLst>
                <a:path h="2007997" w="1988693">
                  <a:moveTo>
                    <a:pt x="0" y="0"/>
                  </a:moveTo>
                  <a:lnTo>
                    <a:pt x="1988693" y="0"/>
                  </a:lnTo>
                  <a:lnTo>
                    <a:pt x="1988693" y="2007997"/>
                  </a:lnTo>
                  <a:lnTo>
                    <a:pt x="0" y="2007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85" t="0" r="-484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5663802" y="456967"/>
            <a:ext cx="1595498" cy="1561686"/>
          </a:xfrm>
          <a:custGeom>
            <a:avLst/>
            <a:gdLst/>
            <a:ahLst/>
            <a:cxnLst/>
            <a:rect r="r" b="b" t="t" l="l"/>
            <a:pathLst>
              <a:path h="1561686" w="1595498">
                <a:moveTo>
                  <a:pt x="0" y="0"/>
                </a:moveTo>
                <a:lnTo>
                  <a:pt x="1595498" y="0"/>
                </a:lnTo>
                <a:lnTo>
                  <a:pt x="1595498" y="1561686"/>
                </a:lnTo>
                <a:lnTo>
                  <a:pt x="0" y="15616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203" t="-60115" r="-11053" b="-60225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7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28575" y="3272419"/>
            <a:ext cx="18345150" cy="6535950"/>
            <a:chOff x="0" y="0"/>
            <a:chExt cx="24460200" cy="8714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460200" cy="8714613"/>
            </a:xfrm>
            <a:custGeom>
              <a:avLst/>
              <a:gdLst/>
              <a:ahLst/>
              <a:cxnLst/>
              <a:rect r="r" b="b" t="t" l="l"/>
              <a:pathLst>
                <a:path h="8714613" w="24460200">
                  <a:moveTo>
                    <a:pt x="1452499" y="0"/>
                  </a:moveTo>
                  <a:lnTo>
                    <a:pt x="24460200" y="0"/>
                  </a:lnTo>
                  <a:lnTo>
                    <a:pt x="24460200" y="7262114"/>
                  </a:lnTo>
                  <a:cubicBezTo>
                    <a:pt x="24460200" y="8064246"/>
                    <a:pt x="23809961" y="8714613"/>
                    <a:pt x="23007701" y="8714613"/>
                  </a:cubicBezTo>
                  <a:lnTo>
                    <a:pt x="0" y="8714613"/>
                  </a:lnTo>
                  <a:lnTo>
                    <a:pt x="0" y="1452499"/>
                  </a:lnTo>
                  <a:cubicBezTo>
                    <a:pt x="0" y="650240"/>
                    <a:pt x="650240" y="0"/>
                    <a:pt x="1452499" y="0"/>
                  </a:cubicBezTo>
                  <a:close/>
                </a:path>
              </a:pathLst>
            </a:custGeom>
            <a:solidFill>
              <a:srgbClr val="DCE6F2"/>
            </a:solidFill>
            <a:ln w="57150" cap="sq">
              <a:solidFill>
                <a:srgbClr val="4A7EBB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643176" y="3529917"/>
            <a:ext cx="17464249" cy="6004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Kindly keep the maximum slides limit up to six </a:t>
            </a:r>
            <a:r>
              <a:rPr lang="en-US" b="true" sz="2700">
                <a:solidFill>
                  <a:srgbClr val="C00000"/>
                </a:solidFill>
                <a:latin typeface="Arial Bold"/>
                <a:ea typeface="Arial Bold"/>
                <a:cs typeface="Arial Bold"/>
                <a:sym typeface="Arial Bold"/>
              </a:rPr>
              <a:t>(6). </a:t>
            </a: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( Including the title slide) 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Try to avoid paragraphs and post your idea in points /diagrams / Infographics /pictures 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Keep your explanation precise and easy to understand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Idea should be unique and novel. 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You can only use provided template for making the PPT without changing the idea details pointers (mentioned in previous slides).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You need to save the file in PDF and upload the same on portal. No PPT, Word Doc or any other format will be supported.</a:t>
            </a:r>
          </a:p>
          <a:p>
            <a:pPr algn="just" marL="488632" indent="-244316" lvl="1">
              <a:lnSpc>
                <a:spcPts val="2916"/>
              </a:lnSpc>
            </a:pPr>
          </a:p>
          <a:p>
            <a:pPr algn="just" marL="488632" indent="-244316" lvl="1">
              <a:lnSpc>
                <a:spcPts val="2916"/>
              </a:lnSpc>
            </a:pPr>
            <a:r>
              <a:rPr lang="en-US" b="true" sz="2700">
                <a:solidFill>
                  <a:srgbClr val="C00000"/>
                </a:solidFill>
                <a:latin typeface="Arial Bold"/>
                <a:ea typeface="Arial Bold"/>
                <a:cs typeface="Arial Bold"/>
                <a:sym typeface="Arial Bold"/>
              </a:rPr>
              <a:t>Note - You can delete this slide (Important Pointers) when you upload the details of your idea on SIH portal.</a:t>
            </a:r>
          </a:p>
          <a:p>
            <a:pPr algn="just" marL="488632" indent="-244316" lvl="1">
              <a:lnSpc>
                <a:spcPts val="2916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927537" y="428392"/>
            <a:ext cx="12432925" cy="906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IMPORTANT INSTRUCTIONS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2444558"/>
            <a:ext cx="14153607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16"/>
              </a:lnSpc>
            </a:pPr>
            <a:r>
              <a:rPr lang="en-US" sz="27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Please ensure below pointers are met while submitting the Idea PPT: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28700" y="512655"/>
            <a:ext cx="1491501" cy="1505998"/>
            <a:chOff x="0" y="0"/>
            <a:chExt cx="1988668" cy="20079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88693" cy="2007997"/>
            </a:xfrm>
            <a:custGeom>
              <a:avLst/>
              <a:gdLst/>
              <a:ahLst/>
              <a:cxnLst/>
              <a:rect r="r" b="b" t="t" l="l"/>
              <a:pathLst>
                <a:path h="2007997" w="1988693">
                  <a:moveTo>
                    <a:pt x="0" y="0"/>
                  </a:moveTo>
                  <a:lnTo>
                    <a:pt x="1988693" y="0"/>
                  </a:lnTo>
                  <a:lnTo>
                    <a:pt x="1988693" y="2007997"/>
                  </a:lnTo>
                  <a:lnTo>
                    <a:pt x="0" y="2007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85" t="0" r="-484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5663802" y="456967"/>
            <a:ext cx="1595498" cy="1561686"/>
          </a:xfrm>
          <a:custGeom>
            <a:avLst/>
            <a:gdLst/>
            <a:ahLst/>
            <a:cxnLst/>
            <a:rect r="r" b="b" t="t" l="l"/>
            <a:pathLst>
              <a:path h="1561686" w="1595498">
                <a:moveTo>
                  <a:pt x="0" y="0"/>
                </a:moveTo>
                <a:lnTo>
                  <a:pt x="1595498" y="0"/>
                </a:lnTo>
                <a:lnTo>
                  <a:pt x="1595498" y="1561686"/>
                </a:lnTo>
                <a:lnTo>
                  <a:pt x="0" y="15616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203" t="-60115" r="-11053" b="-60225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DAHWNrgC0XI</dc:identifier>
  <dcterms:modified xsi:type="dcterms:W3CDTF">2011-08-01T06:04:30Z</dcterms:modified>
  <cp:revision>1</cp:revision>
  <dc:title>SIH2026-IDEA-Presentation-Format (1).pptx</dc:title>
</cp:coreProperties>
</file>