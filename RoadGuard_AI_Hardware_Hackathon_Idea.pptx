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3"/>
    </p:embeddedFont>
    <p:embeddedFont>
      <p:font typeface="Garamond Bold" charset="1" panose="02020804030307010803"/>
      <p:regular r:id="rId14"/>
    </p:embeddedFont>
    <p:embeddedFont>
      <p:font typeface="Arial Bold" charset="1" panose="020B0704020202020204"/>
      <p:regular r:id="rId15"/>
    </p:embeddedFont>
    <p:embeddedFont>
      <p:font typeface="Arial" charset="1" panose="020B0604020202020204"/>
      <p:regular r:id="rId19"/>
    </p:embeddedFont>
    <p:embeddedFont>
      <p:font typeface="Arimo Bold" charset="1" panose="020B0704020202020204"/>
      <p:regular r:id="rId20"/>
    </p:embeddedFont>
    <p:embeddedFont>
      <p:font typeface="Arimo" charset="1" panose="020B06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notesMaster" Target="notesMasters/notesMaster1.xml"/><Relationship Id="rId17" Type="http://schemas.openxmlformats.org/officeDocument/2006/relationships/theme" Target="theme/theme2.xml"/><Relationship Id="rId18" Type="http://schemas.openxmlformats.org/officeDocument/2006/relationships/notesSlide" Target="notesSlides/notesSlide1.xml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notesSlide" Target="notesSlides/notesSlide2.xml"/><Relationship Id="rId23" Type="http://schemas.openxmlformats.org/officeDocument/2006/relationships/notesSlide" Target="notesSlides/notesSlide3.xml"/><Relationship Id="rId24" Type="http://schemas.openxmlformats.org/officeDocument/2006/relationships/notesSlide" Target="notesSlides/notesSlide4.xml"/><Relationship Id="rId25" Type="http://schemas.openxmlformats.org/officeDocument/2006/relationships/notesSlide" Target="notesSlides/notesSlide5.xml"/><Relationship Id="rId26" Type="http://schemas.openxmlformats.org/officeDocument/2006/relationships/notesSlide" Target="notesSlides/notes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3.jpeg"/><Relationship Id="rId5" Type="http://schemas.openxmlformats.org/officeDocument/2006/relationships/image" Target="../media/image2.jpe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Relationship Id="rId4" Type="http://schemas.openxmlformats.org/officeDocument/2006/relationships/image" Target="../media/image3.jpeg"/><Relationship Id="rId5" Type="http://schemas.openxmlformats.org/officeDocument/2006/relationships/image" Target="../media/image2.jpe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Relationship Id="rId4" Type="http://schemas.openxmlformats.org/officeDocument/2006/relationships/image" Target="../media/image3.jpeg"/><Relationship Id="rId5" Type="http://schemas.openxmlformats.org/officeDocument/2006/relationships/image" Target="../media/image2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Relationship Id="rId4" Type="http://schemas.openxmlformats.org/officeDocument/2006/relationships/image" Target="../media/image3.jpeg"/><Relationship Id="rId5" Type="http://schemas.openxmlformats.org/officeDocument/2006/relationships/image" Target="../media/image2.jpe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Relationship Id="rId4" Type="http://schemas.openxmlformats.org/officeDocument/2006/relationships/image" Target="../media/image3.jpeg"/><Relationship Id="rId5" Type="http://schemas.openxmlformats.org/officeDocument/2006/relationships/image" Target="../media/image2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Relationship Id="rId4" Type="http://schemas.openxmlformats.org/officeDocument/2006/relationships/image" Target="../media/image3.jpeg"/><Relationship Id="rId5" Type="http://schemas.openxmlformats.org/officeDocument/2006/relationships/image" Target="../media/image2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34640" y="1874519"/>
            <a:ext cx="12618720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660930" y="429123"/>
            <a:ext cx="6966140" cy="1617375"/>
            <a:chOff x="0" y="0"/>
            <a:chExt cx="11445487" cy="26573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445487" cy="2657374"/>
            </a:xfrm>
            <a:custGeom>
              <a:avLst/>
              <a:gdLst/>
              <a:ahLst/>
              <a:cxnLst/>
              <a:rect r="r" b="b" t="t" l="l"/>
              <a:pathLst>
                <a:path h="2657374" w="11445487">
                  <a:moveTo>
                    <a:pt x="0" y="0"/>
                  </a:moveTo>
                  <a:lnTo>
                    <a:pt x="11445487" y="0"/>
                  </a:lnTo>
                  <a:lnTo>
                    <a:pt x="11445487" y="2657374"/>
                  </a:lnTo>
                  <a:lnTo>
                    <a:pt x="0" y="26573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835" r="-81087" b="-13011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1445487" cy="26764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Yantravedh 2026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663802" y="456967"/>
            <a:ext cx="1595498" cy="1561686"/>
          </a:xfrm>
          <a:custGeom>
            <a:avLst/>
            <a:gdLst/>
            <a:ahLst/>
            <a:cxnLst/>
            <a:rect r="r" b="b" t="t" l="l"/>
            <a:pathLst>
              <a:path h="1561686" w="1595498">
                <a:moveTo>
                  <a:pt x="0" y="0"/>
                </a:moveTo>
                <a:lnTo>
                  <a:pt x="1595498" y="0"/>
                </a:lnTo>
                <a:lnTo>
                  <a:pt x="1595498" y="1561686"/>
                </a:lnTo>
                <a:lnTo>
                  <a:pt x="0" y="15616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203" t="-60115" r="-11053" b="-60225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512655"/>
            <a:ext cx="1491501" cy="1505998"/>
            <a:chOff x="0" y="0"/>
            <a:chExt cx="1988668" cy="20079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88693" cy="2007997"/>
            </a:xfrm>
            <a:custGeom>
              <a:avLst/>
              <a:gdLst/>
              <a:ahLst/>
              <a:cxnLst/>
              <a:rect r="r" b="b" t="t" l="l"/>
              <a:pathLst>
                <a:path h="2007997" w="1988693">
                  <a:moveTo>
                    <a:pt x="0" y="0"/>
                  </a:moveTo>
                  <a:lnTo>
                    <a:pt x="1988693" y="0"/>
                  </a:lnTo>
                  <a:lnTo>
                    <a:pt x="1988693" y="2007997"/>
                  </a:lnTo>
                  <a:lnTo>
                    <a:pt x="0" y="2007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85" t="0" r="-484" b="0"/>
              </a:stretch>
            </a:blipFill>
          </p:spPr>
        </p:sp>
      </p:grpSp>
      <p:sp>
        <p:nvSpPr>
          <p:cNvPr id="9" name="Rounded Rectangle 8"/>
          <p:cNvSpPr/>
          <p:nvPr/>
        </p:nvSpPr>
        <p:spPr>
          <a:xfrm>
            <a:off x="914400" y="3429000"/>
            <a:ext cx="8961120" cy="5852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l">
              <a:defRPr sz="3600" b="1">
                <a:solidFill>
                  <a:srgbClr val="0F2942"/>
                </a:solidFill>
                <a:latin typeface="Arial"/>
              </a:defRPr>
            </a:pPr>
            <a:r>
              <a:t>RoadGuard AI</a:t>
            </a:r>
          </a:p>
          <a:p>
            <a:pPr>
              <a:spcAft>
                <a:spcPts val="1200"/>
              </a:spcAft>
              <a:defRPr sz="1600" b="1">
                <a:solidFill>
                  <a:srgbClr val="0284C7"/>
                </a:solidFill>
                <a:latin typeface="Arial"/>
              </a:defRPr>
            </a:pPr>
            <a:r>
              <a:t>ML-Based Road Damage Detection Using PMPML Buses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Arial"/>
              </a:rPr>
              <a:t>• Problem Statement Title: </a:t>
            </a:r>
            <a:r>
              <a:rPr sz="1500" b="0">
                <a:solidFill>
                  <a:srgbClr val="1E293B"/>
                </a:solidFill>
                <a:latin typeface="Arial"/>
              </a:rPr>
              <a:t>RoadGuard AI: ML-Based Road Damage Detection and Classification System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Arial"/>
              </a:rPr>
              <a:t>• Theme: </a:t>
            </a:r>
            <a:r>
              <a:rPr sz="1500" b="0">
                <a:solidFill>
                  <a:srgbClr val="1E293B"/>
                </a:solidFill>
                <a:latin typeface="Arial"/>
              </a:rPr>
              <a:t>Artificial Intelligence (AI), Smart Mobility and Road Safety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Arial"/>
              </a:rPr>
              <a:t>• Team Name: </a:t>
            </a:r>
            <a:r>
              <a:rPr sz="1500" b="1">
                <a:solidFill>
                  <a:srgbClr val="1E3A8A"/>
                </a:solidFill>
                <a:latin typeface="Arial"/>
              </a:rPr>
              <a:t>404: Ground Not Found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Arial"/>
              </a:rPr>
              <a:t>• College: </a:t>
            </a:r>
            <a:r>
              <a:rPr sz="1500" b="0">
                <a:solidFill>
                  <a:srgbClr val="1E293B"/>
                </a:solidFill>
                <a:latin typeface="Arial"/>
              </a:rPr>
              <a:t>PICT (Pune Institute of Computer Technology)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Arial"/>
              </a:rPr>
              <a:t>• Department: </a:t>
            </a:r>
            <a:r>
              <a:rPr sz="1500" b="0">
                <a:solidFill>
                  <a:srgbClr val="1E293B"/>
                </a:solidFill>
                <a:latin typeface="Arial"/>
              </a:rPr>
              <a:t>ENTC (Electronics &amp; Telecommunication)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64748B"/>
                </a:solidFill>
                <a:latin typeface="Arial"/>
              </a:rPr>
              <a:t>Track: Hardware Hackathon  |  Platform: Edge-AI &amp; PMPML Transit Fleet</a:t>
            </a:r>
          </a:p>
        </p:txBody>
      </p:sp>
      <p:pic>
        <p:nvPicPr>
          <p:cNvPr id="10" name="Picture 9" descr="pmpml_bus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0" y="3429000"/>
            <a:ext cx="7132320" cy="48920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0" y="8412480"/>
            <a:ext cx="7132320" cy="86868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PMPML Transit Bus • Real-Time AI Road Vibration Telemetry Scan (Pune)</a:t>
            </a:r>
          </a:p>
          <a:p>
            <a:pPr algn="ctr">
              <a:defRPr sz="1050">
                <a:solidFill>
                  <a:srgbClr val="BAE6FD"/>
                </a:solidFill>
                <a:latin typeface="Arial"/>
              </a:defRPr>
            </a:pPr>
            <a:r>
              <a:t>Passive Mobile Road Inspection via Operational Public Transportation Fleet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4501" y="0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512655"/>
            <a:ext cx="1491501" cy="1505998"/>
            <a:chOff x="0" y="0"/>
            <a:chExt cx="1988668" cy="20079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88693" cy="2007997"/>
            </a:xfrm>
            <a:custGeom>
              <a:avLst/>
              <a:gdLst/>
              <a:ahLst/>
              <a:cxnLst/>
              <a:rect r="r" b="b" t="t" l="l"/>
              <a:pathLst>
                <a:path h="2007997" w="1988693">
                  <a:moveTo>
                    <a:pt x="0" y="0"/>
                  </a:moveTo>
                  <a:lnTo>
                    <a:pt x="1988693" y="0"/>
                  </a:lnTo>
                  <a:lnTo>
                    <a:pt x="1988693" y="2007997"/>
                  </a:lnTo>
                  <a:lnTo>
                    <a:pt x="0" y="2007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85" t="0" r="-484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5663802" y="456967"/>
            <a:ext cx="1595498" cy="1561686"/>
          </a:xfrm>
          <a:custGeom>
            <a:avLst/>
            <a:gdLst/>
            <a:ahLst/>
            <a:cxnLst/>
            <a:rect r="r" b="b" t="t" l="l"/>
            <a:pathLst>
              <a:path h="1561686" w="1595498">
                <a:moveTo>
                  <a:pt x="0" y="0"/>
                </a:moveTo>
                <a:lnTo>
                  <a:pt x="1595498" y="0"/>
                </a:lnTo>
                <a:lnTo>
                  <a:pt x="1595498" y="1561686"/>
                </a:lnTo>
                <a:lnTo>
                  <a:pt x="0" y="1561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203" t="-60115" r="-11053" b="-60225"/>
            </a:stretch>
          </a:blipFill>
        </p:spPr>
      </p:sp>
      <p:sp>
        <p:nvSpPr>
          <p:cNvPr id="15" name="Rectangle 14"/>
          <p:cNvSpPr/>
          <p:nvPr/>
        </p:nvSpPr>
        <p:spPr>
          <a:xfrm>
            <a:off x="914400" y="1874519"/>
            <a:ext cx="16459200" cy="777240"/>
          </a:xfrm>
          <a:prstGeom prst="rect">
            <a:avLst/>
          </a:prstGeom>
          <a:solidFill>
            <a:srgbClr val="EFF6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54864"/>
          <a:lstStyle/>
          <a:p>
            <a:pPr algn="ctr"/>
            <a:r>
              <a:rPr sz="1900" b="1" u="sng">
                <a:solidFill>
                  <a:srgbClr val="1F497D"/>
                </a:solidFill>
                <a:latin typeface="Arial"/>
              </a:rPr>
              <a:t>Proposed Solution (Describe your Idea/Solution/Prototype)</a:t>
            </a:r>
          </a:p>
          <a:p>
            <a:r>
              <a:rPr sz="1650" b="1">
                <a:solidFill>
                  <a:srgbClr val="0F2942"/>
                </a:solidFill>
                <a:latin typeface="Arial"/>
              </a:rPr>
              <a:t>Idea Title: </a:t>
            </a:r>
            <a:r>
              <a:rPr sz="1650" b="1">
                <a:solidFill>
                  <a:srgbClr val="0284C7"/>
                </a:solidFill>
                <a:latin typeface="Arial"/>
              </a:rPr>
              <a:t>RoadGuard AI – Intelligent Road-Vibration Classification System</a:t>
            </a:r>
          </a:p>
        </p:txBody>
      </p:sp>
      <p:pic>
        <p:nvPicPr>
          <p:cNvPr id="16" name="Picture 15" descr="slide2_concept_flow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743200"/>
            <a:ext cx="16459200" cy="1828800"/>
          </a:xfrm>
          <a:prstGeom prst="rect">
            <a:avLst/>
          </a:prstGeom>
        </p:spPr>
      </p:pic>
      <p:pic>
        <p:nvPicPr>
          <p:cNvPr id="17" name="Picture 16" descr="comparison_card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709160"/>
            <a:ext cx="1645920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512655"/>
            <a:ext cx="1491501" cy="1505998"/>
            <a:chOff x="0" y="0"/>
            <a:chExt cx="1988668" cy="20079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88693" cy="2007997"/>
            </a:xfrm>
            <a:custGeom>
              <a:avLst/>
              <a:gdLst/>
              <a:ahLst/>
              <a:cxnLst/>
              <a:rect r="r" b="b" t="t" l="l"/>
              <a:pathLst>
                <a:path h="2007997" w="1988693">
                  <a:moveTo>
                    <a:pt x="0" y="0"/>
                  </a:moveTo>
                  <a:lnTo>
                    <a:pt x="1988693" y="0"/>
                  </a:lnTo>
                  <a:lnTo>
                    <a:pt x="1988693" y="2007997"/>
                  </a:lnTo>
                  <a:lnTo>
                    <a:pt x="0" y="2007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85" t="0" r="-484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5663802" y="456967"/>
            <a:ext cx="1595498" cy="1561686"/>
          </a:xfrm>
          <a:custGeom>
            <a:avLst/>
            <a:gdLst/>
            <a:ahLst/>
            <a:cxnLst/>
            <a:rect r="r" b="b" t="t" l="l"/>
            <a:pathLst>
              <a:path h="1561686" w="1595498">
                <a:moveTo>
                  <a:pt x="0" y="0"/>
                </a:moveTo>
                <a:lnTo>
                  <a:pt x="1595498" y="0"/>
                </a:lnTo>
                <a:lnTo>
                  <a:pt x="1595498" y="1561686"/>
                </a:lnTo>
                <a:lnTo>
                  <a:pt x="0" y="1561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203" t="-60115" r="-11053" b="-60225"/>
            </a:stretch>
          </a:blipFill>
        </p:spPr>
      </p:sp>
      <p:pic>
        <p:nvPicPr>
          <p:cNvPr id="15" name="Picture 14" descr="flow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1874519"/>
            <a:ext cx="16459200" cy="196596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14400" y="3977639"/>
            <a:ext cx="5486400" cy="5303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3977639"/>
            <a:ext cx="5486400" cy="384048"/>
          </a:xfrm>
          <a:prstGeom prst="round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EXPECTED PROTOTYPE SETUP (HARDWARE)</a:t>
            </a:r>
          </a:p>
        </p:txBody>
      </p:sp>
      <p:pic>
        <p:nvPicPr>
          <p:cNvPr id="18" name="Picture 17" descr="prototype_placehold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" y="4434840"/>
            <a:ext cx="5212080" cy="324612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051560" y="777240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100"/>
              </a:spcAft>
            </a:pPr>
            <a:r>
              <a:rPr sz="919" b="1">
                <a:solidFill>
                  <a:srgbClr val="0F2942"/>
                </a:solidFill>
                <a:latin typeface="Arial"/>
              </a:rPr>
              <a:t>• Sensor: </a:t>
            </a:r>
            <a:r>
              <a:rPr sz="880">
                <a:solidFill>
                  <a:srgbClr val="1E293B"/>
                </a:solidFill>
                <a:latin typeface="Arial"/>
              </a:rPr>
              <a:t>MPU6050 6-Axis IMU (Acc ±2g to ±16g, 3-Axis Gyro)</a:t>
            </a:r>
          </a:p>
          <a:p>
            <a:pPr>
              <a:spcAft>
                <a:spcPts val="100"/>
              </a:spcAft>
            </a:pPr>
            <a:r>
              <a:rPr sz="919" b="1">
                <a:solidFill>
                  <a:srgbClr val="0F2942"/>
                </a:solidFill>
                <a:latin typeface="Arial"/>
              </a:rPr>
              <a:t>• Microcontroller: </a:t>
            </a:r>
            <a:r>
              <a:rPr sz="880">
                <a:solidFill>
                  <a:srgbClr val="1E293B"/>
                </a:solidFill>
                <a:latin typeface="Arial"/>
              </a:rPr>
              <a:t>ESP32 / Arduino Uno (I2C Bus @ 50–100Hz)</a:t>
            </a:r>
          </a:p>
          <a:p>
            <a:pPr>
              <a:spcAft>
                <a:spcPts val="100"/>
              </a:spcAft>
            </a:pPr>
            <a:r>
              <a:rPr sz="919" b="1">
                <a:solidFill>
                  <a:srgbClr val="0F2942"/>
                </a:solidFill>
                <a:latin typeface="Arial"/>
              </a:rPr>
              <a:t>• Enclosure: </a:t>
            </a:r>
            <a:r>
              <a:rPr sz="880">
                <a:solidFill>
                  <a:srgbClr val="1E293B"/>
                </a:solidFill>
                <a:latin typeface="Arial"/>
              </a:rPr>
              <a:t>Rigid IP65 Casing with Vibration-Damped Chassis Mount</a:t>
            </a:r>
          </a:p>
          <a:p>
            <a:pPr>
              <a:spcAft>
                <a:spcPts val="100"/>
              </a:spcAft>
            </a:pPr>
            <a:r>
              <a:rPr sz="919" b="1">
                <a:solidFill>
                  <a:srgbClr val="0F2942"/>
                </a:solidFill>
                <a:latin typeface="Arial"/>
              </a:rPr>
              <a:t>• Telemetry &amp; Power: </a:t>
            </a:r>
            <a:r>
              <a:rPr sz="880">
                <a:solidFill>
                  <a:srgbClr val="1E293B"/>
                </a:solidFill>
                <a:latin typeface="Arial"/>
              </a:rPr>
              <a:t>5V/3.3V Regulated; Optional NEO-6M GPS &amp; GSM</a:t>
            </a:r>
          </a:p>
          <a:p>
            <a:pPr>
              <a:spcAft>
                <a:spcPts val="100"/>
              </a:spcAft>
            </a:pPr>
            <a:r>
              <a:rPr sz="919" b="1">
                <a:solidFill>
                  <a:srgbClr val="0F2942"/>
                </a:solidFill>
                <a:latin typeface="Arial"/>
              </a:rPr>
              <a:t>• Firmware Stack: </a:t>
            </a:r>
            <a:r>
              <a:rPr sz="880">
                <a:solidFill>
                  <a:srgbClr val="1E293B"/>
                </a:solidFill>
                <a:latin typeface="Arial"/>
              </a:rPr>
              <a:t>Arduino C++, Scikit-learn Random Forest 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977639"/>
            <a:ext cx="6583680" cy="5303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37960" y="3977639"/>
            <a:ext cx="6583680" cy="384048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VIBRATION SIGNATURE ANALYSIS (Z-AXIS ACCEL)</a:t>
            </a:r>
          </a:p>
        </p:txBody>
      </p:sp>
      <p:pic>
        <p:nvPicPr>
          <p:cNvPr id="22" name="Picture 21" descr="waveform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4434840"/>
            <a:ext cx="6400800" cy="260604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629400" y="7132320"/>
            <a:ext cx="64008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29400" y="7132320"/>
            <a:ext cx="6400800" cy="32004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36576" bIns="36576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ILLUSTRATIVE WAVEFORM DISCRIMINATION PATTERNS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2552" y="7488936"/>
            <a:ext cx="6254496" cy="1664207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150"/>
              </a:spcAft>
            </a:pPr>
            <a:r>
              <a:rPr sz="919" b="1" i="0">
                <a:solidFill>
                  <a:srgbClr val="B91C1C"/>
                </a:solidFill>
                <a:latin typeface="Arial"/>
              </a:rPr>
              <a:t>• Pothole (Cavity): </a:t>
            </a:r>
            <a:r>
              <a:rPr sz="880" i="0">
                <a:solidFill>
                  <a:srgbClr val="1E293B"/>
                </a:solidFill>
                <a:latin typeface="Arial"/>
              </a:rPr>
              <a:t>Sharp negative drop followed by high rebound spike (illustrative ~150–250ms transient). Characterized by high kurtosis and high delta-g relative to baseline.</a:t>
            </a:r>
          </a:p>
          <a:p>
            <a:pPr>
              <a:spcAft>
                <a:spcPts val="150"/>
              </a:spcAft>
            </a:pPr>
            <a:r>
              <a:rPr sz="919" b="1" i="0">
                <a:solidFill>
                  <a:srgbClr val="D97706"/>
                </a:solidFill>
                <a:latin typeface="Arial"/>
              </a:rPr>
              <a:t>• Speed Breaker (Hump): </a:t>
            </a:r>
            <a:r>
              <a:rPr sz="880" i="0">
                <a:solidFill>
                  <a:srgbClr val="1E293B"/>
                </a:solidFill>
                <a:latin typeface="Arial"/>
              </a:rPr>
              <a:t>Smooth, symmetrical low-frequency elevation (illustrative ~600–900ms duration at ~20–30 km/h). Distinct low-frequency sinusoidal profile without sharp shock.</a:t>
            </a:r>
          </a:p>
          <a:p>
            <a:pPr>
              <a:spcAft>
                <a:spcPts val="150"/>
              </a:spcAft>
            </a:pPr>
            <a:r>
              <a:rPr sz="919" b="1" i="0">
                <a:solidFill>
                  <a:srgbClr val="0284C7"/>
                </a:solidFill>
                <a:latin typeface="Arial"/>
              </a:rPr>
              <a:t>• Rough Road (Texture): </a:t>
            </a:r>
            <a:r>
              <a:rPr sz="880" i="0">
                <a:solidFill>
                  <a:srgbClr val="1E293B"/>
                </a:solidFill>
                <a:latin typeface="Arial"/>
              </a:rPr>
              <a:t>Continuous irregular vibration chatter (illustrative ±0.4g spread around 1.0g gravity baseline). High variance without isolated high-energy peaks.</a:t>
            </a:r>
          </a:p>
          <a:p>
            <a:pPr>
              <a:spcAft>
                <a:spcPts val="150"/>
              </a:spcAft>
            </a:pPr>
            <a:r>
              <a:rPr sz="860" b="1" i="1">
                <a:solidFill>
                  <a:srgbClr val="1E293B"/>
                </a:solidFill>
                <a:latin typeface="Arial"/>
              </a:rPr>
              <a:t>• * Calibration Note: </a:t>
            </a:r>
            <a:r>
              <a:rPr sz="819" i="1">
                <a:solidFill>
                  <a:srgbClr val="1E293B"/>
                </a:solidFill>
                <a:latin typeface="Arial"/>
              </a:rPr>
              <a:t>Waveforms and thresholds shown are illustrative benchmarks from published research; final operational thresholds will be empirically calibrated using onboard bus sensor data.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258800" y="3977639"/>
            <a:ext cx="4114800" cy="530352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3258800" y="3977639"/>
            <a:ext cx="4114800" cy="38404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5-STEP ML WORKFLOW</a:t>
            </a:r>
          </a:p>
        </p:txBody>
      </p:sp>
      <p:pic>
        <p:nvPicPr>
          <p:cNvPr id="28" name="Picture 27" descr="slide3_ml_flow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68528" y="4434840"/>
            <a:ext cx="3886200" cy="338328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3368528" y="7909560"/>
            <a:ext cx="38862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950" b="1">
                <a:solidFill>
                  <a:srgbClr val="0F2942"/>
                </a:solidFill>
                <a:latin typeface="Arial"/>
              </a:defRPr>
            </a:pPr>
            <a:r>
              <a:t>Prototype Configuration Note:</a:t>
            </a:r>
          </a:p>
          <a:p>
            <a:pPr>
              <a:spcBef>
                <a:spcPts val="200"/>
              </a:spcBef>
              <a:defRPr sz="880">
                <a:solidFill>
                  <a:srgbClr val="64748B"/>
                </a:solidFill>
                <a:latin typeface="Arial"/>
              </a:defRPr>
            </a:pPr>
            <a:r>
              <a:t>Exact ML algorithm, deployment platform (edge MCU vs companion PC), and optional modules depend on final prototype setup.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512655"/>
            <a:ext cx="1491501" cy="1505998"/>
            <a:chOff x="0" y="0"/>
            <a:chExt cx="1988668" cy="20079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88693" cy="2007997"/>
            </a:xfrm>
            <a:custGeom>
              <a:avLst/>
              <a:gdLst/>
              <a:ahLst/>
              <a:cxnLst/>
              <a:rect r="r" b="b" t="t" l="l"/>
              <a:pathLst>
                <a:path h="2007997" w="1988693">
                  <a:moveTo>
                    <a:pt x="0" y="0"/>
                  </a:moveTo>
                  <a:lnTo>
                    <a:pt x="1988693" y="0"/>
                  </a:lnTo>
                  <a:lnTo>
                    <a:pt x="1988693" y="2007997"/>
                  </a:lnTo>
                  <a:lnTo>
                    <a:pt x="0" y="2007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85" t="0" r="-484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5663802" y="456967"/>
            <a:ext cx="1595498" cy="1561686"/>
          </a:xfrm>
          <a:custGeom>
            <a:avLst/>
            <a:gdLst/>
            <a:ahLst/>
            <a:cxnLst/>
            <a:rect r="r" b="b" t="t" l="l"/>
            <a:pathLst>
              <a:path h="1561686" w="1595498">
                <a:moveTo>
                  <a:pt x="0" y="0"/>
                </a:moveTo>
                <a:lnTo>
                  <a:pt x="1595498" y="0"/>
                </a:lnTo>
                <a:lnTo>
                  <a:pt x="1595498" y="1561686"/>
                </a:lnTo>
                <a:lnTo>
                  <a:pt x="0" y="1561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203" t="-60115" r="-11053" b="-60225"/>
            </a:stretch>
          </a:blipFill>
        </p:spPr>
      </p:sp>
      <p:sp>
        <p:nvSpPr>
          <p:cNvPr id="15" name="Rounded Rectangle 14"/>
          <p:cNvSpPr/>
          <p:nvPr/>
        </p:nvSpPr>
        <p:spPr>
          <a:xfrm>
            <a:off x="914400" y="2011680"/>
            <a:ext cx="5212080" cy="65379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2011680"/>
            <a:ext cx="5212080" cy="411480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36576" bIns="36576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1. FEASIBILITY (Why It Works)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2459736"/>
            <a:ext cx="5065776" cy="605332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1000"/>
              </a:spcAft>
            </a:pPr>
            <a:r>
              <a:rPr sz="1150" b="1">
                <a:solidFill>
                  <a:srgbClr val="065F46"/>
                </a:solidFill>
                <a:latin typeface="Arial"/>
              </a:rPr>
              <a:t>[ ✔ ] Sub-$2 Sensor Hardware: </a:t>
            </a:r>
            <a:r>
              <a:rPr sz="1050">
                <a:solidFill>
                  <a:srgbClr val="1E293B"/>
                </a:solidFill>
                <a:latin typeface="Arial"/>
              </a:rPr>
              <a:t>Uses commodity MPU6050 MEMS sensor (sub-$2), keeping build cost negligible.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065F46"/>
                </a:solidFill>
                <a:latin typeface="Arial"/>
              </a:rPr>
              <a:t>[ ✔ ] Rapid Microcontroller Setup: </a:t>
            </a:r>
            <a:r>
              <a:rPr sz="1050">
                <a:solidFill>
                  <a:srgbClr val="1E293B"/>
                </a:solidFill>
                <a:latin typeface="Arial"/>
              </a:rPr>
              <a:t>Easily prototyped with ESP32 / Arduino Uno interfaced with a laptop for data capture.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065F46"/>
                </a:solidFill>
                <a:latin typeface="Arial"/>
              </a:rPr>
              <a:t>[ ✔ ] Lightweight Machine Learning: </a:t>
            </a:r>
            <a:r>
              <a:rPr sz="1050">
                <a:solidFill>
                  <a:srgbClr val="1E293B"/>
                </a:solidFill>
                <a:latin typeface="Arial"/>
              </a:rPr>
              <a:t>Random Forest runs with tiny compute footprint—zero costly GPU infrastructure needed.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065F46"/>
                </a:solidFill>
                <a:latin typeface="Arial"/>
              </a:rPr>
              <a:t>[ ✔ ] Proposed Field Testing: </a:t>
            </a:r>
            <a:r>
              <a:rPr sz="1050">
                <a:solidFill>
                  <a:srgbClr val="1E293B"/>
                </a:solidFill>
                <a:latin typeface="Arial"/>
              </a:rPr>
              <a:t>Planned experimental trials and calibration across diverse Pune road surfaces and PMPML transit routes using labeled sensor runs.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065F46"/>
                </a:solidFill>
                <a:latin typeface="Arial"/>
              </a:rPr>
              <a:t>[ ✔ ] Modular Architecture: </a:t>
            </a:r>
            <a:r>
              <a:rPr sz="1050">
                <a:solidFill>
                  <a:srgbClr val="1E293B"/>
                </a:solidFill>
                <a:latin typeface="Arial"/>
              </a:rPr>
              <a:t>Decoupled data collection, preprocessing, and classification for easy incremental upgrades.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011680"/>
            <a:ext cx="5212080" cy="65379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37960" y="2011680"/>
            <a:ext cx="5212080" cy="41148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36576" bIns="36576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2. POTENTIAL CHALLENGES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2459736"/>
            <a:ext cx="5065776" cy="605332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1000"/>
              </a:spcAft>
            </a:pPr>
            <a:r>
              <a:rPr sz="1150" b="1">
                <a:solidFill>
                  <a:srgbClr val="B45309"/>
                </a:solidFill>
                <a:latin typeface="Arial"/>
              </a:rPr>
              <a:t>[ ! ] Bus Chassis &amp; Suspension Variance: </a:t>
            </a:r>
            <a:r>
              <a:rPr sz="1050">
                <a:solidFill>
                  <a:srgbClr val="1E293B"/>
                </a:solidFill>
                <a:latin typeface="Arial"/>
              </a:rPr>
              <a:t>Different bus models and mounting locations produce shifted baseline vibration readings.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B45309"/>
                </a:solidFill>
                <a:latin typeface="Arial"/>
              </a:rPr>
              <a:t>[ ! ] Vibration Waveform Overlap: </a:t>
            </a:r>
            <a:r>
              <a:rPr sz="1050">
                <a:solidFill>
                  <a:srgbClr val="1E293B"/>
                </a:solidFill>
                <a:latin typeface="Arial"/>
              </a:rPr>
              <a:t>Steep speed breakers crossed at speed can mimic acceleration peaks of shallow potholes.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B45309"/>
                </a:solidFill>
                <a:latin typeface="Arial"/>
              </a:rPr>
              <a:t>[ ! ] Vehicle Speed &amp; Payload Dynamics: </a:t>
            </a:r>
            <a:r>
              <a:rPr sz="1050">
                <a:solidFill>
                  <a:srgbClr val="1E293B"/>
                </a:solidFill>
                <a:latin typeface="Arial"/>
              </a:rPr>
              <a:t>Fluctuating passenger weight and driving speeds influence raw vibration amplitudes.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B45309"/>
                </a:solidFill>
                <a:latin typeface="Arial"/>
              </a:rPr>
              <a:t>[ ! ] Representative Dataset Needs: </a:t>
            </a:r>
            <a:r>
              <a:rPr sz="1050">
                <a:solidFill>
                  <a:srgbClr val="1E293B"/>
                </a:solidFill>
                <a:latin typeface="Arial"/>
              </a:rPr>
              <a:t>Accurate ML categorization requires high-quality, ground-truthed training datasets.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B45309"/>
                </a:solidFill>
                <a:latin typeface="Arial"/>
              </a:rPr>
              <a:t>[ ! ] Transit Environmental Shocks: </a:t>
            </a:r>
            <a:r>
              <a:rPr sz="1050">
                <a:solidFill>
                  <a:srgbClr val="1E293B"/>
                </a:solidFill>
                <a:latin typeface="Arial"/>
              </a:rPr>
              <a:t>Hardware deployed on city buses faces continuous vibration, dust, and temperature shifts.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161520" y="2011680"/>
            <a:ext cx="5212080" cy="65379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2161520" y="2011680"/>
            <a:ext cx="5212080" cy="41148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36576" bIns="36576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3. MITIGATION STRATEGIES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34672" y="2459736"/>
            <a:ext cx="5065776" cy="605332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1000"/>
              </a:spcAft>
            </a:pPr>
            <a:r>
              <a:rPr sz="1150" b="1">
                <a:solidFill>
                  <a:srgbClr val="1E3A8A"/>
                </a:solidFill>
                <a:latin typeface="Arial"/>
              </a:rPr>
              <a:t>[ ★ ] Standardized Rigid Axle Mount: </a:t>
            </a:r>
            <a:r>
              <a:rPr sz="1050">
                <a:solidFill>
                  <a:srgbClr val="1E293B"/>
                </a:solidFill>
                <a:latin typeface="Arial"/>
              </a:rPr>
              <a:t>Enclose sensor in rigid, damped IP65 casing bolted to the chassis to ensure clean vibration transfer.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1E3A8A"/>
                </a:solidFill>
                <a:latin typeface="Arial"/>
              </a:rPr>
              <a:t>[ ★ ] Multi-Speed Calibration Data: </a:t>
            </a:r>
            <a:r>
              <a:rPr sz="1050">
                <a:solidFill>
                  <a:srgbClr val="1E293B"/>
                </a:solidFill>
                <a:latin typeface="Arial"/>
              </a:rPr>
              <a:t>Collect labeled calibration data across varying speeds (15–50 km/h) and varied pavement textures.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1E3A8A"/>
                </a:solidFill>
                <a:latin typeface="Arial"/>
              </a:rPr>
              <a:t>[ ★ ] Multi-Feature Pattern Decision: </a:t>
            </a:r>
            <a:r>
              <a:rPr sz="1050">
                <a:solidFill>
                  <a:srgbClr val="1E293B"/>
                </a:solidFill>
                <a:latin typeface="Arial"/>
              </a:rPr>
              <a:t>Classify complete waveforms (duration, RMS, kurtosis, peak-to-peak delta) rather than simple thresholds.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1E3A8A"/>
                </a:solidFill>
                <a:latin typeface="Arial"/>
              </a:rPr>
              <a:t>[ ★ ] Rigorous Cross-Validation: </a:t>
            </a:r>
            <a:r>
              <a:rPr sz="1050">
                <a:solidFill>
                  <a:srgbClr val="1E293B"/>
                </a:solidFill>
                <a:latin typeface="Arial"/>
              </a:rPr>
              <a:t>Evaluate model on separate, unseen test routes with k-fold validation before operational claims.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1E3A8A"/>
                </a:solidFill>
                <a:latin typeface="Arial"/>
              </a:rPr>
              <a:t>[ ★ ] Adaptive Baseline Filtering: </a:t>
            </a:r>
            <a:r>
              <a:rPr sz="1050">
                <a:solidFill>
                  <a:srgbClr val="1E293B"/>
                </a:solidFill>
                <a:latin typeface="Arial"/>
              </a:rPr>
              <a:t>Implement dynamic moving-average filtering to compensate for bus payload changes.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8641080"/>
            <a:ext cx="16459200" cy="73152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Feasibility Summary: Sub-$15 Hardware BOM  •  High Municipal Scalability  •  Robust Multi-Feature ML Classification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512655"/>
            <a:ext cx="1491501" cy="1505998"/>
            <a:chOff x="0" y="0"/>
            <a:chExt cx="1988668" cy="20079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88693" cy="2007997"/>
            </a:xfrm>
            <a:custGeom>
              <a:avLst/>
              <a:gdLst/>
              <a:ahLst/>
              <a:cxnLst/>
              <a:rect r="r" b="b" t="t" l="l"/>
              <a:pathLst>
                <a:path h="2007997" w="1988693">
                  <a:moveTo>
                    <a:pt x="0" y="0"/>
                  </a:moveTo>
                  <a:lnTo>
                    <a:pt x="1988693" y="0"/>
                  </a:lnTo>
                  <a:lnTo>
                    <a:pt x="1988693" y="2007997"/>
                  </a:lnTo>
                  <a:lnTo>
                    <a:pt x="0" y="2007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85" t="0" r="-484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5663802" y="456967"/>
            <a:ext cx="1595498" cy="1561686"/>
          </a:xfrm>
          <a:custGeom>
            <a:avLst/>
            <a:gdLst/>
            <a:ahLst/>
            <a:cxnLst/>
            <a:rect r="r" b="b" t="t" l="l"/>
            <a:pathLst>
              <a:path h="1561686" w="1595498">
                <a:moveTo>
                  <a:pt x="0" y="0"/>
                </a:moveTo>
                <a:lnTo>
                  <a:pt x="1595498" y="0"/>
                </a:lnTo>
                <a:lnTo>
                  <a:pt x="1595498" y="1561686"/>
                </a:lnTo>
                <a:lnTo>
                  <a:pt x="0" y="1561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203" t="-60115" r="-11053" b="-60225"/>
            </a:stretch>
          </a:blipFill>
        </p:spPr>
        <p:txBody>
          <a:bodyPr/>
          <a:p/>
        </p:txBody>
      </p:sp>
      <p:sp>
        <p:nvSpPr>
          <p:cNvPr id="12" name="TextBox 11"/>
          <p:cNvSpPr txBox="1"/>
          <p:nvPr/>
        </p:nvSpPr>
        <p:spPr>
          <a:xfrm>
            <a:off x="16459200" y="9537192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4748B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011680"/>
            <a:ext cx="8961120" cy="141732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2011680"/>
            <a:ext cx="8961120" cy="32004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SOCIAL IMPACT (ROAD SAFETY &amp; COMMUTER WELFARE)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368296"/>
            <a:ext cx="8814816" cy="102412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defRPr sz="1100" b="1">
                <a:solidFill>
                  <a:srgbClr val="4338CA"/>
                </a:solidFill>
                <a:latin typeface="Arial"/>
              </a:defRPr>
            </a:pPr>
            <a:r>
              <a:t>• Safer Urban Commutes: </a:t>
            </a:r>
            <a:r>
              <a:rPr sz="1019" b="0">
                <a:solidFill>
                  <a:srgbClr val="1E293B"/>
                </a:solidFill>
              </a:rPr>
              <a:t>Continuous passive road auditing enables proactive maintenance for safer roads.</a:t>
            </a:r>
          </a:p>
          <a:p>
            <a:pPr>
              <a:spcBef>
                <a:spcPts val="300"/>
              </a:spcBef>
              <a:defRPr sz="1100" b="1">
                <a:solidFill>
                  <a:srgbClr val="4338CA"/>
                </a:solidFill>
                <a:latin typeface="Arial"/>
              </a:defRPr>
            </a:pPr>
            <a:r>
              <a:t>• Prevents Fatal Accidents: </a:t>
            </a:r>
            <a:r>
              <a:rPr sz="1019" b="0">
                <a:solidFill>
                  <a:srgbClr val="1E293B"/>
                </a:solidFill>
              </a:rPr>
              <a:t>Early detection of hazardous potholes directly prevents two-wheeler skids &amp; vehicle damage.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520440"/>
            <a:ext cx="8961120" cy="1417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3520440"/>
            <a:ext cx="8961120" cy="320040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ECONOMIC IMPACT (COST EFFICIENCY &amp; RESOURCE ALLOCATION)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877056"/>
            <a:ext cx="8814816" cy="102412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defRPr sz="1100" b="1">
                <a:solidFill>
                  <a:srgbClr val="065F46"/>
                </a:solidFill>
                <a:latin typeface="Arial"/>
              </a:defRPr>
            </a:pPr>
            <a:r>
              <a:t>• Reduces Survey Expenditure: </a:t>
            </a:r>
            <a:r>
              <a:rPr sz="1019" b="0">
                <a:solidFill>
                  <a:srgbClr val="1E293B"/>
                </a:solidFill>
              </a:rPr>
              <a:t>Automates audits, drastically cutting manual survey labor &amp; dedicated vehicle fuel costs.</a:t>
            </a:r>
          </a:p>
          <a:p>
            <a:pPr>
              <a:spcBef>
                <a:spcPts val="300"/>
              </a:spcBef>
              <a:defRPr sz="1100" b="1">
                <a:solidFill>
                  <a:srgbClr val="065F46"/>
                </a:solidFill>
                <a:latin typeface="Arial"/>
              </a:defRPr>
            </a:pPr>
            <a:r>
              <a:t>• Data-Driven Prioritization: </a:t>
            </a:r>
            <a:r>
              <a:rPr sz="1019" b="0">
                <a:solidFill>
                  <a:srgbClr val="1E293B"/>
                </a:solidFill>
              </a:rPr>
              <a:t>Provides objective damage records to help municipal authorities triage repair budgets.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029200"/>
            <a:ext cx="8961120" cy="14173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5029200"/>
            <a:ext cx="896112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ENVIRONMENTAL &amp; OPERATIONAL IMPACT (SUSTAINABLE MOBILITY)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385816"/>
            <a:ext cx="8814816" cy="102412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defRPr sz="1100" b="1">
                <a:solidFill>
                  <a:srgbClr val="0F766E"/>
                </a:solidFill>
                <a:latin typeface="Arial"/>
              </a:defRPr>
            </a:pPr>
            <a:r>
              <a:t>• Zero Dedicated Survey Emissions: </a:t>
            </a:r>
            <a:r>
              <a:rPr sz="1019" b="0">
                <a:solidFill>
                  <a:srgbClr val="1E293B"/>
                </a:solidFill>
              </a:rPr>
              <a:t>Uses scheduled in-service buses—zero extra survey trips or added carbon emissions.</a:t>
            </a:r>
          </a:p>
          <a:p>
            <a:pPr>
              <a:spcBef>
                <a:spcPts val="300"/>
              </a:spcBef>
              <a:defRPr sz="1100" b="1">
                <a:solidFill>
                  <a:srgbClr val="0F766E"/>
                </a:solidFill>
                <a:latin typeface="Arial"/>
              </a:defRPr>
            </a:pPr>
            <a:r>
              <a:t>• Non-Intrusive City Coverage: </a:t>
            </a:r>
            <a:r>
              <a:rPr sz="1019" b="0">
                <a:solidFill>
                  <a:srgbClr val="1E293B"/>
                </a:solidFill>
              </a:rPr>
              <a:t>Runs silently during regular passenger service without traffic disruptions or road closures.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6537960"/>
            <a:ext cx="8961120" cy="2834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6537960"/>
            <a:ext cx="8961120" cy="320040"/>
          </a:xfrm>
          <a:prstGeom prst="round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FUTURE SCOPE &amp; SYSTEM ROADMAP (PROPOSED EXTENSIONS)</a:t>
            </a:r>
          </a:p>
        </p:txBody>
      </p:sp>
      <p:pic>
        <p:nvPicPr>
          <p:cNvPr id="24" name="Picture 23" descr="slide5_roadmap_flow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6903720"/>
            <a:ext cx="8778240" cy="13258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05840" y="8275320"/>
            <a:ext cx="8778240" cy="105156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>
              <a:defRPr sz="950" b="1">
                <a:solidFill>
                  <a:srgbClr val="1E3A8A"/>
                </a:solidFill>
                <a:latin typeface="Arial"/>
              </a:defRPr>
            </a:pPr>
            <a:r>
              <a:t>• Proposed Stages: [1] GPS Geotagging → [2] GIS Municipal Map → [3] Multi-Bus Fleet Fusion → [4] Severity Estimation → [5] Municipal ERP Ticketing.</a:t>
            </a:r>
          </a:p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• Objective: Enable automated work order generation directly into municipal maintenance workflows.</a:t>
            </a:r>
          </a:p>
        </p:txBody>
      </p:sp>
      <p:pic>
        <p:nvPicPr>
          <p:cNvPr id="26" name="Picture 25" descr="dark_blue_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9840" y="2011680"/>
            <a:ext cx="7223760" cy="406908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10287000" y="2148840"/>
            <a:ext cx="6949440" cy="347472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DE68A"/>
                </a:solidFill>
                <a:latin typeface="Arial"/>
              </a:defRPr>
            </a:pPr>
            <a:r>
              <a:t>⚠ ILLUSTRATIVE DEMO CONCEPT DATA  •  NOT REAL MUNICIPAL TELEMETRY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40" y="6217920"/>
            <a:ext cx="7223760" cy="31546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149840" y="6217920"/>
            <a:ext cx="7223760" cy="32004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36576" bIns="36576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PROPOSED MUNICIPAL GIS CONCEPT (ILLUSTRATIVE DEMO DASHBOARD)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22992" y="6574536"/>
            <a:ext cx="7077456" cy="276148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defRPr sz="1050" b="1">
                <a:solidFill>
                  <a:srgbClr val="0F2942"/>
                </a:solidFill>
                <a:latin typeface="Arial"/>
              </a:defRPr>
            </a:pPr>
            <a:r>
              <a:t>Smart-City Fleet Monitoring Concept (Pune Municipal Corporation):</a:t>
            </a:r>
          </a:p>
          <a:p>
            <a:pPr>
              <a:spcBef>
                <a:spcPts val="300"/>
              </a:spcBef>
              <a:defRPr sz="919">
                <a:solidFill>
                  <a:srgbClr val="1E293B"/>
                </a:solidFill>
                <a:latin typeface="Arial"/>
              </a:defRPr>
            </a:pPr>
            <a:r>
              <a:t>• Illustrative Demo Data Notice: All statistics, report counts (e.g., 128 reports, 42 active buses), incident alerts, and map pin coordinates shown on this interface are synthetic demonstration data for UI/concept visualization only.</a:t>
            </a:r>
            <a:br/>
            <a:br/>
            <a:r>
              <a:t>• Prototype Scope Notice: Real-time GPS mapping, automated cloud telemetry, and centralized municipal dashboard integration represent proposed future extensions and are not part of the initial standalone hardware prototype.</a:t>
            </a:r>
            <a:br/>
            <a:br/>
            <a:r>
              <a:t>• Note: No guaranteed financial savings, confirmed government integration, or unverified detection accuracies are claimed.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512655"/>
            <a:ext cx="1491501" cy="1505998"/>
            <a:chOff x="0" y="0"/>
            <a:chExt cx="1988668" cy="20079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88693" cy="2007997"/>
            </a:xfrm>
            <a:custGeom>
              <a:avLst/>
              <a:gdLst/>
              <a:ahLst/>
              <a:cxnLst/>
              <a:rect r="r" b="b" t="t" l="l"/>
              <a:pathLst>
                <a:path h="2007997" w="1988693">
                  <a:moveTo>
                    <a:pt x="0" y="0"/>
                  </a:moveTo>
                  <a:lnTo>
                    <a:pt x="1988693" y="0"/>
                  </a:lnTo>
                  <a:lnTo>
                    <a:pt x="1988693" y="2007997"/>
                  </a:lnTo>
                  <a:lnTo>
                    <a:pt x="0" y="2007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85" t="0" r="-484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5663802" y="456967"/>
            <a:ext cx="1595498" cy="1561686"/>
          </a:xfrm>
          <a:custGeom>
            <a:avLst/>
            <a:gdLst/>
            <a:ahLst/>
            <a:cxnLst/>
            <a:rect r="r" b="b" t="t" l="l"/>
            <a:pathLst>
              <a:path h="1561686" w="1595498">
                <a:moveTo>
                  <a:pt x="0" y="0"/>
                </a:moveTo>
                <a:lnTo>
                  <a:pt x="1595498" y="0"/>
                </a:lnTo>
                <a:lnTo>
                  <a:pt x="1595498" y="1561686"/>
                </a:lnTo>
                <a:lnTo>
                  <a:pt x="0" y="1561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203" t="-60115" r="-11053" b="-60225"/>
            </a:stretch>
          </a:blipFill>
        </p:spPr>
      </p:sp>
      <p:sp>
        <p:nvSpPr>
          <p:cNvPr id="15" name="Rounded Rectangle 14"/>
          <p:cNvSpPr/>
          <p:nvPr/>
        </p:nvSpPr>
        <p:spPr>
          <a:xfrm>
            <a:off x="914400" y="2011680"/>
            <a:ext cx="8092440" cy="2514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2011680"/>
            <a:ext cx="8092440" cy="347472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36576" bIns="36576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1. HARDWARE SPECIFICATION (MPU-6050)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2395728"/>
            <a:ext cx="7946136" cy="2093976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0F2942"/>
                </a:solidFill>
              </a:rPr>
              <a:t>• Primary Source: </a:t>
            </a:r>
            <a:r>
              <a:rPr sz="1250"/>
              <a:t>TDK InvenSense MPU-6050 Specification (Doc PS-MPU-6000A-00)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2942"/>
                </a:solidFill>
              </a:rPr>
              <a:t>• Technical Scope: </a:t>
            </a:r>
            <a:r>
              <a:rPr sz="1250"/>
              <a:t>Integrated 6-axis MEMS MotionTracking (±2g to ±16g Accel, 3-Axis Gyro, I2C interface).</a:t>
            </a:r>
          </a:p>
          <a:p>
            <a:r>
              <a:rPr b="1" sz="1300">
                <a:solidFill>
                  <a:srgbClr val="0F2942"/>
                </a:solidFill>
              </a:rPr>
              <a:t>• Project Role: </a:t>
            </a:r>
            <a:r>
              <a:rPr sz="1250">
                <a:solidFill>
                  <a:srgbClr val="1E293B"/>
                </a:solidFill>
              </a:rPr>
              <a:t>High-rate road vibration capture and transient chassis impact sampling.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2011680"/>
            <a:ext cx="8092440" cy="2514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81160" y="2011680"/>
            <a:ext cx="8092440" cy="347472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36576" bIns="36576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2. MACHINE LEARNING FRAMEWORK (RANDOM FOREST)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4312" y="2395728"/>
            <a:ext cx="7946136" cy="2093976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0F2942"/>
                </a:solidFill>
              </a:rPr>
              <a:t>• Primary Source: </a:t>
            </a:r>
            <a:r>
              <a:rPr sz="1250"/>
              <a:t>Pedregosa et al., "Scikit-learn: Machine Learning in Python" (JMLR 2011)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2942"/>
                </a:solidFill>
              </a:rPr>
              <a:t>• Technical Scope: </a:t>
            </a:r>
            <a:r>
              <a:rPr sz="1250"/>
              <a:t>Supervised ensemble classification using RandomForestClassifier algorithm.</a:t>
            </a:r>
          </a:p>
          <a:p>
            <a:r>
              <a:rPr b="1" sz="1300">
                <a:solidFill>
                  <a:srgbClr val="0F2942"/>
                </a:solidFill>
              </a:rPr>
              <a:t>• Project Role: </a:t>
            </a:r>
            <a:r>
              <a:rPr sz="1250">
                <a:solidFill>
                  <a:srgbClr val="1E293B"/>
                </a:solidFill>
              </a:rPr>
              <a:t>Multi-class categorization (Pothole vs Speed Breaker vs Rough Road) with noise robustness.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709160"/>
            <a:ext cx="8092440" cy="2514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4709160"/>
            <a:ext cx="8092440" cy="347472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36576" bIns="36576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3. VALIDATION METHODOLOGY (EVALUATION PROTOCOLS)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5093208"/>
            <a:ext cx="7946136" cy="2093976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0F2942"/>
                </a:solidFill>
              </a:rPr>
              <a:t>• Primary Source: </a:t>
            </a:r>
            <a:r>
              <a:rPr sz="1250"/>
              <a:t>Buitinck et al., "API Design for Machine Learning Software" (ECML PKDD)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2942"/>
                </a:solidFill>
              </a:rPr>
              <a:t>• Technical Scope: </a:t>
            </a:r>
            <a:r>
              <a:rPr sz="1250"/>
              <a:t>Train/test split protocols (train_test_split), k-fold cross-validation, and multi-class metrics.</a:t>
            </a:r>
          </a:p>
          <a:p>
            <a:r>
              <a:rPr b="1" sz="1300">
                <a:solidFill>
                  <a:srgbClr val="0F2942"/>
                </a:solidFill>
              </a:rPr>
              <a:t>• Project Role: </a:t>
            </a:r>
            <a:r>
              <a:rPr sz="1250">
                <a:solidFill>
                  <a:srgbClr val="1E293B"/>
                </a:solidFill>
              </a:rPr>
              <a:t>Ensures model generalization across independent test routes; prevents test data leakage.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81160" y="4709160"/>
            <a:ext cx="8092440" cy="2514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81160" y="4709160"/>
            <a:ext cx="8092440" cy="347472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36576" bIns="36576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4. PEER-REVIEWED RESEARCH (TRANSIT ROAD SENSING)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2" y="5093208"/>
            <a:ext cx="7946136" cy="2093976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250" b="1">
                <a:solidFill>
                  <a:srgbClr val="0F2942"/>
                </a:solidFill>
                <a:latin typeface="Arial"/>
              </a:rPr>
              <a:t>• Mednis et al. (IEEE DCOSS 2011): </a:t>
            </a:r>
            <a:r>
              <a:rPr sz="1250">
                <a:solidFill>
                  <a:srgbClr val="1E293B"/>
                </a:solidFill>
                <a:latin typeface="Arial"/>
              </a:rPr>
              <a:t>Real-time pothole detection using mobile accelerometers.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F2942"/>
                </a:solidFill>
                <a:latin typeface="Arial"/>
              </a:rPr>
              <a:t>• De Zoysa et al. (IEEE ICIAfS 2007): </a:t>
            </a:r>
            <a:r>
              <a:rPr sz="1250">
                <a:solidFill>
                  <a:srgbClr val="1E293B"/>
                </a:solidFill>
                <a:latin typeface="Arial"/>
              </a:rPr>
              <a:t>Public transport bus-based road condition monitoring.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F2942"/>
                </a:solidFill>
                <a:latin typeface="Arial"/>
              </a:rPr>
              <a:t>• Mohan et al. (ACM SenSys 2008): </a:t>
            </a:r>
            <a:r>
              <a:rPr sz="1250">
                <a:solidFill>
                  <a:srgbClr val="1E293B"/>
                </a:solidFill>
                <a:latin typeface="Arial"/>
              </a:rPr>
              <a:t>Nericell: Mobile sensing for road and traffic classification.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7388352"/>
            <a:ext cx="16459200" cy="1874519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64592"/>
          <a:lstStyle/>
          <a:p>
            <a:pPr algn="ctr">
              <a:defRPr sz="1350" b="1">
                <a:solidFill>
                  <a:srgbClr val="0F2942"/>
                </a:solidFill>
                <a:latin typeface="Arial"/>
              </a:defRPr>
            </a:pPr>
            <a:r>
              <a:t>PROJECT SUMMARY &amp; CORE INNOVATION</a:t>
            </a:r>
          </a:p>
          <a:p>
            <a:pPr algn="ctr">
              <a:spcBef>
                <a:spcPts val="500"/>
              </a:spcBef>
              <a:defRPr sz="1750" b="1" i="1">
                <a:solidFill>
                  <a:srgbClr val="1E3A8A"/>
                </a:solidFill>
                <a:latin typeface="Georgia"/>
              </a:defRPr>
            </a:pPr>
            <a:r>
              <a:t>“RoadGuard AI combines low-cost vibration sensing and Machine Learning to distinguish potholes from common road irregularities, supporting smarter road inspection.”</a:t>
            </a:r>
          </a:p>
          <a:p>
            <a:pPr algn="ctr">
              <a:spcBef>
                <a:spcPts val="500"/>
              </a:spcBef>
              <a:defRPr sz="1200" b="1">
                <a:solidFill>
                  <a:srgbClr val="64748B"/>
                </a:solidFill>
                <a:latin typeface="Arial"/>
              </a:defRPr>
            </a:pPr>
            <a:r>
              <a:t>Hardware Hackathon Track: AI, Smart Mobility and Road Safety  |  Target Deployment: Public Transit Bus Fleets (PMPML, Pune)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7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8575" y="3272419"/>
            <a:ext cx="18345150" cy="6535950"/>
            <a:chOff x="0" y="0"/>
            <a:chExt cx="24460200" cy="8714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60200" cy="8714613"/>
            </a:xfrm>
            <a:custGeom>
              <a:avLst/>
              <a:gdLst/>
              <a:ahLst/>
              <a:cxnLst/>
              <a:rect r="r" b="b" t="t" l="l"/>
              <a:pathLst>
                <a:path h="8714613" w="24460200">
                  <a:moveTo>
                    <a:pt x="1452499" y="0"/>
                  </a:moveTo>
                  <a:lnTo>
                    <a:pt x="24460200" y="0"/>
                  </a:lnTo>
                  <a:lnTo>
                    <a:pt x="24460200" y="7262114"/>
                  </a:lnTo>
                  <a:cubicBezTo>
                    <a:pt x="24460200" y="8064246"/>
                    <a:pt x="23809961" y="8714613"/>
                    <a:pt x="23007701" y="8714613"/>
                  </a:cubicBezTo>
                  <a:lnTo>
                    <a:pt x="0" y="8714613"/>
                  </a:lnTo>
                  <a:lnTo>
                    <a:pt x="0" y="1452499"/>
                  </a:lnTo>
                  <a:cubicBezTo>
                    <a:pt x="0" y="650240"/>
                    <a:pt x="650240" y="0"/>
                    <a:pt x="1452499" y="0"/>
                  </a:cubicBezTo>
                  <a:close/>
                </a:path>
              </a:pathLst>
            </a:custGeom>
            <a:solidFill>
              <a:srgbClr val="DCE6F2"/>
            </a:solidFill>
            <a:ln w="57150" cap="sq">
              <a:solidFill>
                <a:srgbClr val="4A7EBB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643176" y="3529917"/>
            <a:ext cx="17464249" cy="6004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Kindly keep the maximum slides limit up to six </a:t>
            </a:r>
            <a:r>
              <a:rPr lang="en-US" b="true" sz="2700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(6). </a:t>
            </a: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( Including the title slide)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Try to avoid paragraphs and post your idea in points /diagrams / Infographics /pictures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Keep your explanation precise and easy to understand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Idea should be unique and novel.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 can only use provided template for making the PPT without changing the idea details pointers (mentioned in previous slides).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 need to save the file in PDF and upload the same on portal. No PPT, Word Doc or any other format will be supported.</a:t>
            </a:r>
          </a:p>
          <a:p>
            <a:pPr algn="just" marL="488632" indent="-244316" lvl="1">
              <a:lnSpc>
                <a:spcPts val="2916"/>
              </a:lnSpc>
            </a:pPr>
          </a:p>
          <a:p>
            <a:pPr algn="just" marL="488632" indent="-244316" lvl="1">
              <a:lnSpc>
                <a:spcPts val="2916"/>
              </a:lnSpc>
            </a:pPr>
            <a:r>
              <a:rPr lang="en-US" b="true" sz="2700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Note - You can delete this slide (Important Pointers) when you upload the details of your idea on SIH portal.</a:t>
            </a:r>
          </a:p>
          <a:p>
            <a:pPr algn="just" marL="488632" indent="-244316" lvl="1">
              <a:lnSpc>
                <a:spcPts val="2916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927537" y="428392"/>
            <a:ext cx="12432925" cy="90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IMPORTANT INSTRUCTIONS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444558"/>
            <a:ext cx="14153607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16"/>
              </a:lnSpc>
            </a:pPr>
            <a:r>
              <a:rPr lang="en-US" sz="27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Please ensure below pointers are met while submitting the Idea PPT: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8700" y="512655"/>
            <a:ext cx="1491501" cy="1505998"/>
            <a:chOff x="0" y="0"/>
            <a:chExt cx="1988668" cy="20079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88693" cy="2007997"/>
            </a:xfrm>
            <a:custGeom>
              <a:avLst/>
              <a:gdLst/>
              <a:ahLst/>
              <a:cxnLst/>
              <a:rect r="r" b="b" t="t" l="l"/>
              <a:pathLst>
                <a:path h="2007997" w="1988693">
                  <a:moveTo>
                    <a:pt x="0" y="0"/>
                  </a:moveTo>
                  <a:lnTo>
                    <a:pt x="1988693" y="0"/>
                  </a:lnTo>
                  <a:lnTo>
                    <a:pt x="1988693" y="2007997"/>
                  </a:lnTo>
                  <a:lnTo>
                    <a:pt x="0" y="2007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85" t="0" r="-484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5663802" y="456967"/>
            <a:ext cx="1595498" cy="1561686"/>
          </a:xfrm>
          <a:custGeom>
            <a:avLst/>
            <a:gdLst/>
            <a:ahLst/>
            <a:cxnLst/>
            <a:rect r="r" b="b" t="t" l="l"/>
            <a:pathLst>
              <a:path h="1561686" w="1595498">
                <a:moveTo>
                  <a:pt x="0" y="0"/>
                </a:moveTo>
                <a:lnTo>
                  <a:pt x="1595498" y="0"/>
                </a:lnTo>
                <a:lnTo>
                  <a:pt x="1595498" y="1561686"/>
                </a:lnTo>
                <a:lnTo>
                  <a:pt x="0" y="1561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203" t="-60115" r="-11053" b="-60225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DAHWNrgC0XI</dc:identifier>
  <dcterms:modified xsi:type="dcterms:W3CDTF">2011-08-01T06:04:30Z</dcterms:modified>
  <cp:revision>1</cp:revision>
  <dc:title>SIH2026-IDEA-Presentation-Format (1).pptx</dc:title>
</cp:coreProperties>
</file>